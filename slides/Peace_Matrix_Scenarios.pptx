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87878"/>
                </a:solidFill>
                <a:latin typeface="Arial"/>
              </a:defRPr>
            </a:pPr>
            <a:r>
              <a:t>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1E1E"/>
                </a:solidFill>
                <a:latin typeface="Arial"/>
              </a:defRPr>
            </a:pPr>
            <a:r>
              <a:t>Will the peace hold?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E1E1E"/>
                </a:solidFill>
                <a:latin typeface="Arial"/>
              </a:defRPr>
            </a:pPr>
            <a:r>
              <a:t>How implementation progress and stakeholder alignment will shape whether the 14-point framework becomes a durable settlement or unravels. Four scenarios for businesses to consider.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097280"/>
            <a:ext cx="5349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787878"/>
                </a:solidFill>
                <a:latin typeface="Arial"/>
              </a:defRPr>
            </a:pPr>
            <a:r>
              <a:t>Unified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5623560"/>
            <a:ext cx="5349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787878"/>
                </a:solidFill>
                <a:latin typeface="Arial"/>
              </a:defRPr>
            </a:pPr>
            <a:r>
              <a:t>Fragmented Stakeholders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560320"/>
            <a:ext cx="365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787878"/>
                </a:solidFill>
                <a:latin typeface="Arial"/>
              </a:defRPr>
            </a:pPr>
            <a:r>
              <a:t>Stalled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560320"/>
            <a:ext cx="548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787878"/>
                </a:solidFill>
                <a:latin typeface="Arial"/>
              </a:defRPr>
            </a:pPr>
            <a:r>
              <a:t>Advancing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0" y="1371600"/>
            <a:ext cx="5349240" cy="4251960"/>
          </a:xfrm>
          <a:prstGeom prst="rect">
            <a:avLst/>
          </a:prstGeom>
          <a:noFill/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3474720"/>
            <a:ext cx="5349240" cy="127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1371600"/>
            <a:ext cx="12700" cy="42519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4630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46450"/>
                </a:solidFill>
                <a:latin typeface="Arial"/>
              </a:defRPr>
            </a:pPr>
            <a:r>
              <a:t>Negotiated Friction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7373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1E1E1E"/>
                </a:solidFill>
                <a:latin typeface="Arial"/>
              </a:defRPr>
            </a:pPr>
            <a:r>
              <a:t>Leadership alignment holds, but 14-point implementation slows. Bureaucratic delays, disputed terms, or domestic politics create friction. Progress is real but erratic.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5603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46450"/>
                </a:solidFill>
                <a:latin typeface="Arial"/>
              </a:rPr>
              <a:t>Implications / key business questions: </a:t>
            </a:r>
            <a:r>
              <a:rPr sz="900">
                <a:solidFill>
                  <a:srgbClr val="1E1E1E"/>
                </a:solidFill>
                <a:latin typeface="Arial"/>
              </a:rPr>
              <a:t>How long should we maintain crisis-level inventory? Which interim shipping arrangements remain necessary? How do we plan when timelines keep shifting?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4630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46450"/>
                </a:solidFill>
                <a:latin typeface="Arial"/>
              </a:defRPr>
            </a:pPr>
            <a:r>
              <a:t>Durable Settlement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7373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1E1E1E"/>
                </a:solidFill>
                <a:latin typeface="Arial"/>
              </a:defRPr>
            </a:pPr>
            <a:r>
              <a:t>Both sides deliver on the 14 points. Hardliner opposition contained. Hormuz fully operational within 30 days, sanctions relief proceeds, nuclear talks advance on schedule.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5603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46450"/>
                </a:solidFill>
                <a:latin typeface="Arial"/>
              </a:rPr>
              <a:t>Implications / key business questions: </a:t>
            </a:r>
            <a:r>
              <a:rPr sz="900">
                <a:solidFill>
                  <a:srgbClr val="1E1E1E"/>
                </a:solidFill>
                <a:latin typeface="Arial"/>
              </a:rPr>
              <a:t>When can we treat supply chains as normalized? How quickly should we unwind hedges and crisis premiums? What new opportunities emerge in post-conflict markets?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61188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46450"/>
                </a:solidFill>
                <a:latin typeface="Arial"/>
              </a:defRPr>
            </a:pPr>
            <a:r>
              <a:t>Deal Collapse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886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1E1E1E"/>
                </a:solidFill>
                <a:latin typeface="Arial"/>
              </a:defRPr>
            </a:pPr>
            <a:r>
              <a:t>Framework unravels. Nuclear talks fail, disputed terms trigger walkouts, hardliners prevail on both sides. Return to blockade, conflict escalation, or worse.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709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46450"/>
                </a:solidFill>
                <a:latin typeface="Arial"/>
              </a:rPr>
              <a:t>Implications / key business questions: </a:t>
            </a:r>
            <a:r>
              <a:rPr sz="900">
                <a:solidFill>
                  <a:srgbClr val="1E1E1E"/>
                </a:solidFill>
                <a:latin typeface="Arial"/>
              </a:rPr>
              <a:t>What is our exposure to renewed disruption? Are crisis contingency plans still current? How quickly can we pivot to alternative routes, suppliers, or markets?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61188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46450"/>
                </a:solidFill>
                <a:latin typeface="Arial"/>
              </a:defRPr>
            </a:pPr>
            <a:r>
              <a:t>Fragile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886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900">
                <a:solidFill>
                  <a:srgbClr val="1E1E1E"/>
                </a:solidFill>
                <a:latin typeface="Arial"/>
              </a:defRPr>
            </a:pPr>
            <a:r>
              <a:t>Both sides meet formal commitments, but spoilers remain active. IRGC hardliners, Israeli opposition, or disputed reconstruction terms could trigger incidents. Compliance without conviction.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709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46450"/>
                </a:solidFill>
                <a:latin typeface="Arial"/>
              </a:rPr>
              <a:t>Implications / key business questions: </a:t>
            </a:r>
            <a:r>
              <a:rPr sz="900">
                <a:solidFill>
                  <a:srgbClr val="1E1E1E"/>
                </a:solidFill>
                <a:latin typeface="Arial"/>
              </a:rPr>
              <a:t>What early warning indicators should we monitor? How do we distinguish noise from signal? What contingency triggers should we pre-define for rapid response?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486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1E"/>
                </a:solidFill>
                <a:latin typeface="Arial"/>
              </a:defRPr>
            </a:pPr>
            <a:r>
              <a:t>What the Markets Are Pricing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9144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7878"/>
                </a:solidFill>
                <a:latin typeface="Arial"/>
              </a:defRPr>
            </a:pPr>
            <a:r>
              <a:t>Permanent peace deal probability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1371600"/>
            <a:ext cx="3291840" cy="3474720"/>
          </a:xfrm>
          <a:prstGeom prst="rect">
            <a:avLst/>
          </a:prstGeom>
          <a:solidFill>
            <a:srgbClr val="FAFAFA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46304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3317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  <a:latin typeface="Arial"/>
              </a:defRPr>
            </a:pPr>
            <a:r>
              <a:t>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20040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0690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9377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937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787878"/>
                </a:solidFill>
                <a:latin typeface="Arial"/>
              </a:defRPr>
            </a:pPr>
            <a:r>
              <a:t>Polymarket odds for permanent US-Iran peace deal have risen from 15% pre-framework to 45%+ post-signing, reflecting cautious optimism about implementation.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00800"/>
            <a:ext cx="11247120" cy="635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87878"/>
                </a:solidFill>
                <a:latin typeface="Arial"/>
              </a:defRPr>
            </a:pPr>
            <a:r>
              <a:t>ALTERNATIVE FUTURES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878"/>
                </a:solidFill>
                <a:latin typeface="Arial"/>
              </a:defRPr>
            </a:pPr>
            <a:r>
              <a:t>Data: Polymarket, June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04320" y="6492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