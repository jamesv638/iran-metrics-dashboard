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1919"/>
                </a:solidFill>
                <a:latin typeface="Arial"/>
              </a:defRPr>
            </a:pPr>
            <a:r>
              <a:t>Hormuz Reopening: Industry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  <a:latin typeface="Arial"/>
              </a:defRPr>
            </a:pPr>
            <a:r>
              <a:t>First, Second, and Third Order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293"/>
                </a:solidFill>
                <a:latin typeface="Arial"/>
              </a:defRPr>
            </a:pPr>
            <a:r>
              <a:t>1ST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554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  <a:latin typeface="Arial"/>
              </a:defRPr>
            </a:pPr>
            <a:r>
              <a:t>Immediate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20"/>
            <a:ext cx="2926080" cy="18288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5544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293"/>
                </a:solidFill>
                <a:latin typeface="Arial"/>
              </a:defRPr>
            </a:pPr>
            <a:r>
              <a:t>2ND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554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  <a:latin typeface="Arial"/>
              </a:defRPr>
            </a:pPr>
            <a:r>
              <a:t>1-3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874520"/>
            <a:ext cx="2926080" cy="18288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5544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293"/>
                </a:solidFill>
                <a:latin typeface="Arial"/>
              </a:defRPr>
            </a:pPr>
            <a:r>
              <a:t>3RD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554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  <a:latin typeface="Arial"/>
              </a:defRPr>
            </a:pPr>
            <a:r>
              <a:t>3-12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874520"/>
            <a:ext cx="2926080" cy="18288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Arial"/>
              </a:defRPr>
            </a:pPr>
            <a:r>
              <a:t>Oil &amp; Gas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1031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91919"/>
                </a:solidFill>
                <a:latin typeface="Arial"/>
              </a:defRPr>
            </a:pPr>
            <a:r>
              <a:t>▼ 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War premium unwinds; Brent down 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Arial"/>
              </a:defRPr>
            </a:pPr>
            <a:r>
              <a:t>Shipping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880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5293"/>
                </a:solidFill>
                <a:latin typeface="Arial"/>
              </a:defRPr>
            </a:pPr>
            <a:r>
              <a:t>▲ 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Routes reopening; insurance still elevated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Arial"/>
              </a:defRPr>
            </a:pPr>
            <a:r>
              <a:t>Airlines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6576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5293"/>
                </a:solidFill>
                <a:latin typeface="Arial"/>
              </a:defRPr>
            </a:pPr>
            <a:r>
              <a:t>▲ 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Jet fuel costs falling (31% of opex)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Arial"/>
              </a:defRPr>
            </a:pPr>
            <a:r>
              <a:t>Refiners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4348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5293"/>
                </a:solidFill>
                <a:latin typeface="Arial"/>
              </a:defRPr>
            </a:pPr>
            <a:r>
              <a:t>▲ 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Input costs falling; margins expand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1031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Arial"/>
              </a:defRPr>
            </a:pPr>
            <a:r>
              <a:t>Consumer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1031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5293"/>
                </a:solidFill>
                <a:latin typeface="Arial"/>
              </a:defRPr>
            </a:pPr>
            <a:r>
              <a:t>▲ 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~$40/mo back in pockets from gas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8803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Arial"/>
              </a:defRPr>
            </a:pPr>
            <a:r>
              <a:t>Materials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880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5293"/>
                </a:solidFill>
                <a:latin typeface="Arial"/>
              </a:defRPr>
            </a:pPr>
            <a:r>
              <a:t>▲ 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Petrochemical feedstock costs 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6576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Arial"/>
              </a:defRPr>
            </a:pPr>
            <a:r>
              <a:t>Retail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6576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5293"/>
                </a:solidFill>
                <a:latin typeface="Arial"/>
              </a:defRPr>
            </a:pPr>
            <a:r>
              <a:t>▲ 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Lower logistics; more spending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4348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Arial"/>
              </a:defRPr>
            </a:pPr>
            <a:r>
              <a:t>Autos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4348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5293"/>
                </a:solidFill>
                <a:latin typeface="Arial"/>
              </a:defRPr>
            </a:pPr>
            <a:r>
              <a:t>▲ 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Parts flow resuming; costs normalize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1031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Arial"/>
              </a:defRPr>
            </a:pPr>
            <a:r>
              <a:t>Semiconductors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1031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787878"/>
                </a:solidFill>
                <a:latin typeface="Arial"/>
              </a:defRPr>
            </a:pPr>
            <a:r>
              <a:t>— Flat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Helium recovery takes years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28803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Arial"/>
              </a:defRPr>
            </a:pPr>
            <a:r>
              <a:t>Agriculture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2880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5293"/>
                </a:solidFill>
                <a:latin typeface="Arial"/>
              </a:defRPr>
            </a:pPr>
            <a:r>
              <a:t>▲ 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Fertilizer easing; contracts lag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36576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Arial"/>
              </a:defRPr>
            </a:pPr>
            <a:r>
              <a:t>Inflation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36576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91919"/>
                </a:solidFill>
                <a:latin typeface="Arial"/>
              </a:defRPr>
            </a:pPr>
            <a:r>
              <a:t>▼ 0.5%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Energy deflation feeds to 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44348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Arial"/>
              </a:defRPr>
            </a:pPr>
            <a:r>
              <a:t>Fed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44348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787878"/>
                </a:solidFill>
                <a:latin typeface="Arial"/>
              </a:defRPr>
            </a:pPr>
            <a:r>
              <a:t>— TBD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Lower CPI could enable cuts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977640" y="3474720"/>
            <a:ext cx="548640" cy="228600"/>
          </a:xfrm>
          <a:prstGeom prst="rightArrow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ight Arrow 50"/>
          <p:cNvSpPr/>
          <p:nvPr/>
        </p:nvSpPr>
        <p:spPr>
          <a:xfrm>
            <a:off x="7452360" y="3474720"/>
            <a:ext cx="548640" cy="228600"/>
          </a:xfrm>
          <a:prstGeom prst="rightArrow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878"/>
                </a:solidFill>
                <a:latin typeface="Arial"/>
              </a:defRPr>
            </a:pPr>
            <a:r>
              <a:t>% = Stock price moves on June 15, 2026 (XLE, DAL, UAL data). Sources: Reuters, CNBC, Yahoo Finance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669280"/>
            <a:ext cx="10881360" cy="6400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7607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293"/>
                </a:solidFill>
                <a:latin typeface="Arial"/>
              </a:defRPr>
            </a:pPr>
            <a:r>
              <a:t>IMMEDIATE IMPACT: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5760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91919"/>
                </a:solidFill>
                <a:latin typeface="Arial"/>
              </a:defRPr>
            </a:pPr>
            <a:r>
              <a:t>Airlines (+4%), Shipping (+3%), Refiners (+3%) benefit now. Oil &amp; Gas (-4%) faces headwinds as war premium unwinds.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49224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Arial"/>
              </a:defRPr>
            </a:pPr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1919"/>
                </a:solidFill>
                <a:latin typeface="Arial"/>
              </a:defRPr>
            </a:pPr>
            <a:r>
              <a:t>What This Means for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  <a:latin typeface="Arial"/>
              </a:defRPr>
            </a:pPr>
            <a:r>
              <a:t>The peace deal changes who wins and who loses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27632"/>
            <a:ext cx="109728" cy="109728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919"/>
                </a:solidFill>
                <a:latin typeface="Arial"/>
              </a:defRPr>
            </a:pPr>
            <a:r>
              <a:t>Cheaper to fly and 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Arial"/>
              </a:defRPr>
            </a:pPr>
            <a:r>
              <a:t>Oil prices are down 5% since the deal was announced. Airlines and shipping companies will pay less for fuel, which means lower costs and higher profits.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96312"/>
            <a:ext cx="109728" cy="109728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919"/>
                </a:solidFill>
                <a:latin typeface="Arial"/>
              </a:defRPr>
            </a:pPr>
            <a:r>
              <a:t>More money in consumers' pockets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Arial"/>
              </a:defRPr>
            </a:pPr>
            <a:r>
              <a:t>Gas prices falling from $4.56 to $4.12 per gallon. Average household could save around $40/month as prices continue dropping.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64992"/>
            <a:ext cx="109728" cy="109728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919"/>
                </a:solidFill>
                <a:latin typeface="Arial"/>
              </a:defRPr>
            </a:pPr>
            <a:r>
              <a:t>Supply chains may start to 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Arial"/>
              </a:defRPr>
            </a:pPr>
            <a:r>
              <a:t>Hormuz expected to reopen within 30 days, but backlogs and elevated shipping costs will take months to clear.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233672"/>
            <a:ext cx="109728" cy="109728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919"/>
                </a:solidFill>
                <a:latin typeface="Arial"/>
              </a:defRPr>
            </a:pPr>
            <a:r>
              <a:t>Tech still has a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Arial"/>
              </a:defRPr>
            </a:pPr>
            <a:r>
              <a:t>Chip makers need helium, and Qatar's production was hit by strikes. Recovery takes years, not months.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102352"/>
            <a:ext cx="109728" cy="109728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919"/>
                </a:solidFill>
                <a:latin typeface="Arial"/>
              </a:defRPr>
            </a:pPr>
            <a:r>
              <a:t>Oil companies lose their advantage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Arial"/>
              </a:defRPr>
            </a:pPr>
            <a:r>
              <a:t>Energy stocks fell 3.75% on June 15. High oil prices helped US drillers. Now that prices are falling, the windfall is ending.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126480"/>
            <a:ext cx="10972800" cy="18288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Arial"/>
              </a:defRPr>
            </a:pPr>
            <a:r>
              <a:t>Bottom line: Travel, retail, and shipping benefit now. Manufacturing recovers over months. Tech stays constrained.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